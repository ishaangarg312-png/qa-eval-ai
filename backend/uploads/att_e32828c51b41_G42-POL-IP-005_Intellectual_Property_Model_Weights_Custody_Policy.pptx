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0116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36F63"/>
                </a:solidFill>
                <a:latin typeface="Calibri"/>
              </a:rPr>
              <a:t>G42 HOLDING LLC  |  GROUP LEGAL &amp; IP STRATEGY
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GROUP INTELLECTUAL PROPERTY &amp;
MODEL WEIGHTS CUSTODY POLICY</a:t>
            </a:r>
          </a:p>
          <a:p>
            <a:r>
              <a:rPr sz="1300">
                <a:solidFill>
                  <a:srgbClr val="E2E8F0"/>
                </a:solidFill>
                <a:latin typeface="Calibri"/>
              </a:rPr>
              <a:t>
Document Identifier: G42-POL-IP-005  |  Version 4.8.0  |  Effective Q1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13159"/>
          </a:solidFill>
          <a:ln>
            <a:solidFill>
              <a:srgbClr val="1E4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  <a:latin typeface="Calibri"/>
              </a:rPr>
              <a:t>DOCUMENT OWNER
</a:t>
            </a:r>
          </a:p>
          <a:p>
            <a:r>
              <a:rPr sz="1000">
                <a:solidFill>
                  <a:srgbClr val="FFFFFF"/>
                </a:solidFill>
                <a:latin typeface="Calibri"/>
              </a:rPr>
              <a:t>Group Chief IP Counsel &amp;
Group General Counsel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57200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  <a:latin typeface="Calibri"/>
              </a:rPr>
              <a:t>ISSUING BODY
</a:t>
            </a:r>
          </a:p>
          <a:p>
            <a:r>
              <a:rPr sz="1000">
                <a:solidFill>
                  <a:srgbClr val="FFFFFF"/>
                </a:solidFill>
                <a:latin typeface="Calibri"/>
              </a:rPr>
              <a:t>Group Executive Committee &amp;
Board Risk Council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57200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  <a:latin typeface="Calibri"/>
              </a:rPr>
              <a:t>APPLICABLE ENTITIES
</a:t>
            </a:r>
          </a:p>
          <a:p>
            <a:r>
              <a:rPr sz="1000">
                <a:solidFill>
                  <a:srgbClr val="FFFFFF"/>
                </a:solidFill>
                <a:latin typeface="Calibri"/>
              </a:rPr>
              <a:t>All OpCos (Core42, Inception,
Presight, AIQ, Khazna, Space42)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39" y="457200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D97706"/>
                </a:solidFill>
                <a:latin typeface="Calibri"/>
              </a:rPr>
              <a:t>CORE DOMAINS
</a:t>
            </a:r>
          </a:p>
          <a:p>
            <a:r>
              <a:rPr sz="1000">
                <a:solidFill>
                  <a:srgbClr val="FFFFFF"/>
                </a:solidFill>
                <a:latin typeface="Calibri"/>
              </a:rPr>
              <a:t>Model Checkpoint Sigstore,
Copyleft Bans &amp; Open-Source 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Executive Summary: Safeguarding Frontier AI &amp; Group 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2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9728" cy="10058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The Value of Frontier AI  —  </a:t>
            </a:r>
            <a:r>
              <a:rPr sz="1050">
                <a:solidFill>
                  <a:srgbClr val="1E293B"/>
                </a:solidFill>
                <a:latin typeface="Calibri"/>
              </a:rPr>
              <a:t>Neural network weights, instruction datasets, and synthetic fine-tuning pipelines constitute G42's crown jewels. Protecting their custody, provenance, and legal ownership is an existential priority.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9728" cy="1005840"/>
          </a:xfrm>
          <a:prstGeom prst="round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36F63"/>
                </a:solidFill>
                <a:latin typeface="Calibri"/>
              </a:rPr>
              <a:t>Universal Work-for-Hire  —  </a:t>
            </a:r>
            <a:r>
              <a:rPr sz="1050">
                <a:solidFill>
                  <a:srgbClr val="1E293B"/>
                </a:solidFill>
                <a:latin typeface="Calibri"/>
              </a:rPr>
              <a:t>All algorithms, trade secrets, prompts, patents, and software authored by employees, research fellows, or contractors belong exclusively to G42 Holding LLC in perpetuity.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9728" cy="10058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Cryptographic Custody  —  </a:t>
            </a:r>
            <a:r>
              <a:rPr sz="1050">
                <a:solidFill>
                  <a:srgbClr val="1E293B"/>
                </a:solidFill>
                <a:latin typeface="Calibri"/>
              </a:rPr>
              <a:t>Pre-trained model weights exceeding 500M parameters must be signed with Sigstore PKI, stored in Object Lock storage, and strictly protected against egress.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3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9728" cy="1005840"/>
          </a:xfrm>
          <a:prstGeom prst="round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74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36F63"/>
                </a:solidFill>
                <a:latin typeface="Calibri"/>
              </a:rPr>
              <a:t>Open-Source Rigor  —  </a:t>
            </a:r>
            <a:r>
              <a:rPr sz="1050">
                <a:solidFill>
                  <a:srgbClr val="1E293B"/>
                </a:solidFill>
                <a:latin typeface="Calibri"/>
              </a:rPr>
              <a:t>Viral Copyleft licenses (GPL/AGPL) are strictly banned in production. Public open-source releases require a multi-stage clearance gateway across IP, Security, and RAI.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Policy Architecture &amp; Master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3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035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937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Module 1: Foundational IP Principles &amp; Scope
</a:t>
            </a:r>
          </a:p>
          <a:p>
            <a:r>
              <a:rPr sz="950">
                <a:solidFill>
                  <a:srgbClr val="64748B"/>
                </a:solidFill>
                <a:latin typeface="Calibri"/>
              </a:rPr>
              <a:t>Universal IP ownership, Three-Lines-of-Defense, Work-for-Hire doctrine, and OpCo coverage.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3035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4937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Module 2: Inventions &amp; Patent Harvesting
</a:t>
            </a:r>
          </a:p>
          <a:p>
            <a:r>
              <a:rPr sz="950">
                <a:solidFill>
                  <a:srgbClr val="64748B"/>
                </a:solidFill>
                <a:latin typeface="Calibri"/>
              </a:rPr>
              <a:t>Patent committee disclosures, inventor awards, work-for-hire assignments, and contractor 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53035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4937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Module 3: Model Weights Custody Standard
</a:t>
            </a:r>
          </a:p>
          <a:p>
            <a:r>
              <a:rPr sz="950">
                <a:solidFill>
                  <a:srgbClr val="64748B"/>
                </a:solidFill>
                <a:latin typeface="Calibri"/>
              </a:rPr>
              <a:t>WORM immutable storage, Sigstore PKI signing, 500M parameter egress control, and HSM keys.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53035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788920"/>
            <a:ext cx="4937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Module 4: Open Source &amp; Third-Party Code
</a:t>
            </a:r>
          </a:p>
          <a:p>
            <a:r>
              <a:rPr sz="950">
                <a:solidFill>
                  <a:srgbClr val="64748B"/>
                </a:solidFill>
                <a:latin typeface="Calibri"/>
              </a:rPr>
              <a:t>Copyleft license bans (GPL/AGPL), permissive whitelist (Apache/MIT), and dependency SBOMs.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3035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4937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Module 5: Public Release &amp; Contribution Gate
</a:t>
            </a:r>
          </a:p>
          <a:p>
            <a:r>
              <a:rPr sz="950">
                <a:solidFill>
                  <a:srgbClr val="64748B"/>
                </a:solidFill>
                <a:latin typeface="Calibri"/>
              </a:rPr>
              <a:t>4-stage Open Source Release Gateway, red-teaming, prompt sanitization, and CAIO approvals.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40480"/>
            <a:ext cx="53035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931920"/>
            <a:ext cx="4937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Module 6: Autonomous Agent IP Governance
</a:t>
            </a:r>
          </a:p>
          <a:p>
            <a:r>
              <a:rPr sz="950">
                <a:solidFill>
                  <a:srgbClr val="64748B"/>
                </a:solidFill>
                <a:latin typeface="Calibri"/>
              </a:rPr>
              <a:t>Sage Agent code generation ownership, synthetic training data hygiene, and tool IP rights.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83480"/>
            <a:ext cx="53035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4937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Module 7: Enforcement, Audits &amp; Attestation
</a:t>
            </a:r>
          </a:p>
          <a:p>
            <a:r>
              <a:rPr sz="950">
                <a:solidFill>
                  <a:srgbClr val="64748B"/>
                </a:solidFill>
                <a:latin typeface="Calibri"/>
              </a:rPr>
              <a:t>Purview IP scanning, 4-tier disciplinary severity matrix, EthicsPoint, and digital sign-off.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Purpose &amp; The Five Intellectual Property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4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057400" cy="5486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PILLAR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1. Work-for-Hire Primacy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100% of IP conceived on G42 compute or during tenure is owned by G42 Holding LLC.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1" y="1554480"/>
            <a:ext cx="2057400" cy="548640"/>
          </a:xfrm>
          <a:prstGeom prst="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1" y="16002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PILLAR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1" y="224028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2. Weight Cryptographic Custody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Model weights are signed, hashed, and air-gapped from unauthorized export.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84064" y="1554480"/>
            <a:ext cx="205740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6002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PILLAR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24028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3. Copyleft Contamination Defense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Zero viral open-source licenses permitted in proprietary software codebases.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0336" y="1554480"/>
            <a:ext cx="2057400" cy="5486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1776" y="16002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PILLAR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224028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4. Controlled Open-Source Sharing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Public model weights and open contributions pass strict multi-stage safety gateways.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6608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36608" y="1554480"/>
            <a:ext cx="2057400" cy="548640"/>
          </a:xfrm>
          <a:prstGeom prst="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16002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PILLAR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224028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5. Synthetic Data &amp; Agent Rights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Autonomous agent outputs and synthetic datasets are fully vested in G42 legal title.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Enterprise Scope &amp; Subsidiary IP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5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545"/>
                </a:solidFill>
                <a:latin typeface="Calibri"/>
              </a:rPr>
              <a:t>Core42
</a:t>
            </a:r>
          </a:p>
          <a:p>
            <a:r>
              <a:rPr sz="850" b="1">
                <a:solidFill>
                  <a:srgbClr val="136F63"/>
                </a:solidFill>
                <a:latin typeface="Calibri"/>
              </a:rPr>
              <a:t>SOVEREIGN CLOUD &amp; SUPERCOMPUTING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IP over virtualized HPC fabric, Condor Galaxy orchestrators, and sovereign infrastructure architectures.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545"/>
                </a:solidFill>
                <a:latin typeface="Calibri"/>
              </a:rPr>
              <a:t>Inception (IIAI)
</a:t>
            </a:r>
          </a:p>
          <a:p>
            <a:r>
              <a:rPr sz="850" b="1">
                <a:solidFill>
                  <a:srgbClr val="136F63"/>
                </a:solidFill>
                <a:latin typeface="Calibri"/>
              </a:rPr>
              <a:t>FOUNDATIONAL FRONTIER AI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IP over LLM architectures (Jais series), BioX multimodal models, synthetic training pipelines, and foundational pre-trained weights.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5448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916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545"/>
                </a:solidFill>
                <a:latin typeface="Calibri"/>
              </a:rPr>
              <a:t>Presight AI
</a:t>
            </a:r>
          </a:p>
          <a:p>
            <a:r>
              <a:rPr sz="850" b="1">
                <a:solidFill>
                  <a:srgbClr val="136F63"/>
                </a:solidFill>
                <a:latin typeface="Calibri"/>
              </a:rPr>
              <a:t>BIG DATA &amp; SOVEREIGN ANALYTICS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IP over smart city sensory analytics, public safety intelligence engines, and cross-enterprise analytics algorithms.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545"/>
                </a:solidFill>
                <a:latin typeface="Calibri"/>
              </a:rPr>
              <a:t>AIQ
</a:t>
            </a:r>
          </a:p>
          <a:p>
            <a:r>
              <a:rPr sz="850" b="1">
                <a:solidFill>
                  <a:srgbClr val="136F63"/>
                </a:solidFill>
                <a:latin typeface="Calibri"/>
              </a:rPr>
              <a:t>ENERGY &amp; INDUSTRIAL AI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IP over subsurface reservoir modeling, autonomous industrial decarbonization algorithms, and SCADA AI telemetry.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84048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9776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545"/>
                </a:solidFill>
                <a:latin typeface="Calibri"/>
              </a:rPr>
              <a:t>Khazna Data Centers
</a:t>
            </a:r>
          </a:p>
          <a:p>
            <a:r>
              <a:rPr sz="850" b="1">
                <a:solidFill>
                  <a:srgbClr val="136F63"/>
                </a:solidFill>
                <a:latin typeface="Calibri"/>
              </a:rPr>
              <a:t>HYPERSCALE INFRASTRUCTURE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IP over zero-carbon liquid cooling designs, high-density power distribution, and modular data center patents.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384048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9776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545"/>
                </a:solidFill>
                <a:latin typeface="Calibri"/>
              </a:rPr>
              <a:t>Space42
</a:t>
            </a:r>
          </a:p>
          <a:p>
            <a:r>
              <a:rPr sz="850" b="1">
                <a:solidFill>
                  <a:srgbClr val="136F63"/>
                </a:solidFill>
                <a:latin typeface="Calibri"/>
              </a:rPr>
              <a:t>GEOSPATIAL &amp; SPACE AI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IP over Earth observation satellite processing, LEO communications optimization, and space-grade sensor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Universal Work-for-Hire &amp; Inventions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6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545"/>
                </a:solidFill>
                <a:latin typeface="Calibri"/>
              </a:rPr>
              <a:t>Universal Assignment Scope (Clause 3.1.1)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Exclusive Ownership: All software code, model architectures, weights, mathematical algorithms, prompt designs, datasets, research papers, and patentable inventions belong 100% to G42 Holding LLC.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Compute Presumption: Any invention created using G42 computing resources, servers, GPU clusters, confidential data, or facility access is legally presumed Work-for-Hire.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Moral Rights Waiver: Personnel execute a global, irrevocable waiver of all moral rights to the fullest extent permitted under UAE Federal Law No. 38/2021.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36F63"/>
                </a:solidFill>
                <a:latin typeface="Calibri"/>
              </a:rPr>
              <a:t>Contractor &amp; Joint Venture Mandates (Clause 3.2)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Pre-Engagement IP Execution: No contractor, specialized consultant, or research fellow may write a line of code or touch G42 compute without a signed Assignment Agreement.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No Background IP Encroachment: Contractors must clearly schedule any pre-existing Background IP prior to work commencement; unlisted IP is presumed transferred.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Joint Venture Custody: In joint ventures (e.g., AIQ), core foundational algorithms developed by G42 remain Group IP, with field-of-use commercial licenses granted to the JV entity.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Patent Harvesting &amp; Global Filing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7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914400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45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Step 1: Invention Disclosure (IDF)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Researchers submit novel AI algorithms or hardware optimizations via the internal IP Portal within 14 days of conception.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914400" cy="1005840"/>
          </a:xfrm>
          <a:prstGeom prst="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88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Step 2: Patent Review Board Evaluation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Group IP Committee evaluates technical novelty, commercial applicability, and patentability vs. trade secret protection.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914400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31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Step 3: Global Priority Filing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Approved inventions are drafted and filed under Patent Cooperation Treaty (PCT) in UAE, US (USPTO), Europe (EPO), and China.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83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983480"/>
            <a:ext cx="914400" cy="1005840"/>
          </a:xfrm>
          <a:prstGeom prst="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57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074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Step 4: Inventor Recognition &amp; Awards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Inventors receive monetary awards at milestone stages: $2,500 on formal patent filing, and $5,000 upon official patent grant.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Strategic IP Choice: Trade Secret vs. Patent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8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545"/>
                </a:solidFill>
                <a:latin typeface="Calibri"/>
              </a:rPr>
              <a:t>Trade Secret Protection (Crown Jewels)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Definition: Proprietary algorithms, weights, hyperparameters, and datasets that cannot be reverse-engineered from inference outputs.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Typical Assets: Neural network pre-training checkpoints, synthetic prompt recipes, reinforcement learning reward models (RLHF/DPO).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Protection Mechanism: Strict need-to-know RBAC, air-gapped storage, non-disclosure agreements, and continuous forensic access auditing.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Duration: Indefinite legal protection as long as secrecy is maintained.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36F63"/>
                </a:solidFill>
                <a:latin typeface="Calibri"/>
              </a:rPr>
              <a:t>Patent Protection (Defensive &amp; Commercial)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Definition: Publicly disclosed technical inventions providing 20-year legal monopoly and defensive cross-licensing shields.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Typical Assets: Novel transformer attention mechanisms, supercomputing network topologies, robotic mechanical joints, hardware liquid cooling designs.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Protection Mechanism: Formal statutory filing via UAE Patent Office, USPTO, EPO, WIPO with public disclosure.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Duration: 20 years from statutory filing date.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Model Weights Custody Standard (MWCS-2026)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9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9728" cy="10058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The Value of Model Weights  —  </a:t>
            </a:r>
            <a:r>
              <a:rPr sz="1000">
                <a:solidFill>
                  <a:srgbClr val="1E293B"/>
                </a:solidFill>
                <a:latin typeface="Calibri"/>
              </a:rPr>
              <a:t>In foundational AI, neural network weights represent millions of GPU training hours and proprietary datasets. They are classified as Level 3 or Level 4 enterprise assets requiring sovereign cryptographic custody.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9728" cy="1005840"/>
          </a:xfrm>
          <a:prstGeom prst="round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36F63"/>
                </a:solidFill>
                <a:latin typeface="Calibri"/>
              </a:rPr>
              <a:t>Immutable Object Storage (WORM)  —  </a:t>
            </a:r>
            <a:r>
              <a:rPr sz="1000">
                <a:solidFill>
                  <a:srgbClr val="1E293B"/>
                </a:solidFill>
                <a:latin typeface="Calibri"/>
              </a:rPr>
              <a:t>Production model weights (e.g., Jais, Med42, BioX) must be stored in encrypted Object Storage configured with Object Lock in Compliance Mode. Immature deletion or unauthorized overwrite is impossible.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9728" cy="10058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Cryptographic Sigstore Attestation  —  </a:t>
            </a:r>
            <a:r>
              <a:rPr sz="1000">
                <a:solidFill>
                  <a:srgbClr val="1E293B"/>
                </a:solidFill>
                <a:latin typeface="Calibri"/>
              </a:rPr>
              <a:t>All pre-trained weights must be signed using G42 Sigstore PKI infrastructure. Production inference engines reject weight payloads lacking valid cryptographic signatures from certified build pipelines.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3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9728" cy="10058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74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Strict Weight Egress Controls  —  </a:t>
            </a:r>
            <a:r>
              <a:rPr sz="1000">
                <a:solidFill>
                  <a:srgbClr val="1E293B"/>
                </a:solidFill>
                <a:latin typeface="Calibri"/>
              </a:rPr>
              <a:t>Downloading or exporting pre-trained weight files exceeding 500 million parameters to local developer laptops or external clouds is hard-blocked and requires CAIO/CISO multi-party authorization.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Model Checkpoint Signing &amp; Sigstore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10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057400" cy="5486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1. Training Checkpoint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Model pre-training completes on Condor Galaxy supercomputing cluster.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1" y="1554480"/>
            <a:ext cx="2057400" cy="548640"/>
          </a:xfrm>
          <a:prstGeom prst="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1" y="16002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1" y="224028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2. Checksum Hashing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Automated CI/CD computes SHA-384 / SHA-512 cryptographic hash of tensor weights.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84064" y="1554480"/>
            <a:ext cx="2057400" cy="5486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6002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24028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3. Sigstore PKI Signing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HSM-backed Cosign certificate signs the weight manifest and dataset metadata.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0336" y="1554480"/>
            <a:ext cx="2057400" cy="548640"/>
          </a:xfrm>
          <a:prstGeom prst="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1776" y="16002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224028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4. Rekor Transparency Log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Signature and timestamp are published to immutable Rekor transparency ledger.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6608" y="1554480"/>
            <a:ext cx="2057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36608" y="1554480"/>
            <a:ext cx="2057400" cy="5486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16002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224028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5. Inference Validation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Inference clusters verify signature against G42 root CA before mounting tensor layers.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Strict Weight Egress Controls (&gt;500M Parameter Rule)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11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74720" cy="5486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Parameter Threshold (&gt;500M)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Calibri"/>
              </a:rPr>
              <a:t>Any model, adapter checkpoint, or LoRA weight file exceeding 500 million parameters is classified as Restricted Intellectual Property.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Applies to foundational LLMs, vision transformers, and speech models.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Local downloads to developer workstations are permanently blocked.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Cloud-to-cloud transfers must route through dedicated mTLS VPC endpoints.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3474720" cy="548640"/>
          </a:xfrm>
          <a:prstGeom prst="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Multi-Party 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402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Calibri"/>
              </a:rPr>
              <a:t>Exporting weights outside G42 sovereign VPC perimeters requires formal Dual-Key digital authorization.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Requires sign-off from Group Chief AI Officer (CAIO).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Requires cryptographic authorization from Group CISO.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Must cite approved client delivery contract or joint venture agreement.
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5544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554480"/>
            <a:ext cx="3474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Technical DLP &amp; Quarantine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2402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Calibri"/>
              </a:rPr>
              <a:t>Network perimeter gateways enforce real-time inspection for large binary and tensor payload transfers.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Outbound tensor dumps trigger immediate API throttling.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Automated host quarantine executed by CSOC in &lt; 15 seconds.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Forensic log captured in immutable SIEM for 3 years.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Open Source &amp; Third-Party Code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12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9728" cy="10058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1. Automated License Scanning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All source code repositories, container builds, and dependencies are scanned continuously via automated Software Composition Analysis (SCA) in CI/CD pipelines.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9728" cy="1005840"/>
          </a:xfrm>
          <a:prstGeom prst="round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2. Software Bill of Materials (SBOM)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Every production microservice, AI container, and client delivery package must include a machine-readable SBOM in CycloneDX or SPDX standard.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9728" cy="10058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3. Pre-Ingestion CVE Auditing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Open-source packages with unpatched CVSS &gt; 7.0 vulnerabilities or malicious maintainer packages are blocked at the artifact proxy gateway.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3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9728" cy="1005840"/>
          </a:xfrm>
          <a:prstGeom prst="round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74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4. Clean IP Separation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Proprietary algorithms must remain isolated in separate packages and repositories from open-source libraries to avoid unintentional copyright contamination.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Strict Prohibition on Viral Copyleft Licenses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13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11D48"/>
                </a:solidFill>
                <a:latin typeface="Calibri"/>
              </a:rPr>
              <a:t>STRICTLY BANNED: Strong Copyleft Licenses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• GNU General Public License (GPL v2 / GPL v3)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• GNU Affero General Public License (AGPL v3)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• Server Side Public License (SSPL)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• Open Software License (OSL / EUPL)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• Why Banned: Viral clauses legally compel the open-source publication of all proprietary derivative code, destroying corporate trade secrets.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• Enforcement: CI/CD linters immediately fail builds containing AGPL/GPL dependencies.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36F63"/>
                </a:solidFill>
                <a:latin typeface="Calibri"/>
              </a:rPr>
              <a:t>APPROVED: Permissive Open-Source Licenses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• Apache License 2.0 (Preferred for AI / Cloud)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• MIT License (Permissive / Clean)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• BSD 2-Clause / 3-Clause Licenses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• ISC License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• Why Approved: Permissive licenses permit commercial redistribution and incorporation into proprietary software without forcing source disclosure.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• Requirement: Maintain original copyright notices and license attributions in dependency documentation.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Enterprise Software License Risk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14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9728" cy="1005840"/>
          </a:xfrm>
          <a:prstGeom prst="round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Permissive (Green): Apache 2.0, MIT, BSD-2/3, ISC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Policy Directive: Approved for universal use in all proprietary, cloud, and embedded applications.  |  Enforcement: Automated CI/CD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9728" cy="10058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Weak Copyleft (Yellow): LGPL v2.1/v3, MPL 2.0, EPL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Policy Directive: Permitted ONLY as dynamically linked libraries; modifying source code requires Legal clearance.  |  Enforcement: Legal review 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9728" cy="10058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Strong Copyleft (Red): GPL v2/v3, AGPL v3, SSPL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Policy Directive: STRICTLY PROHIBITED in all commercial and proprietary codebases.  |  Enforcement: Immediate build failure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3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9728" cy="10058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74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Commercial Proprietary: Commercial Vendor SDKs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Policy Directive: Requires valid commercial license agreement approved by Group Procurement and Legal.  |  Enforcement: Procurement approval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Public Model &amp; Open Source Release Gateway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15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914400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45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Gateway 1: IP &amp; Secret Scanning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Automated scans verify zero hardcoded credentials, proprietary prompts, or Level 3/4 internal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914400" cy="1005840"/>
          </a:xfrm>
          <a:prstGeom prst="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88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Gateway 2: RAI &amp; Red-Teaming Sign-off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Group AI Ethics Board conducts safety evaluations (toxicity &lt; 0.01%, jailbreak resistance &gt; 99.8%).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914400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31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Gateway 3: Dual-Use Trade Clearance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Legal verifies compliance with UAE MOFA and US EAR export control regulations.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83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983480"/>
            <a:ext cx="914400" cy="1005840"/>
          </a:xfrm>
          <a:prstGeom prst="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57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074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Gateway 4: Executive Ratification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Formal release sign-off executed by OpCo Head of AI and Group Chief AI Officer (CAIO).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External Repository &amp; Model Hub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16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545"/>
                </a:solidFill>
                <a:latin typeface="Calibri"/>
              </a:rPr>
              <a:t>Official Organization Hubs (Hugging Face / GitHub)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Centralized Org Control: All public models and code must be published under official verified G42 organization accounts (e.g., huggingface.co/core42, github.com/inceptionai).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No Personal Repositories: Publishing corporate model weights or source code under personal employee accounts is strictly prohibited.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Model Card Mandate: Every public model must include an audited System Card detailing architecture, training parameters, and license terms.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36F63"/>
                </a:solidFill>
                <a:latin typeface="Calibri"/>
              </a:rPr>
              <a:t>Open Source Model Licensing Standard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Standard Open Weights License: Approved releases utilize the Apache 2.0 License or the G42 Open RAIL (Responsible AI License) model.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Responsible AI Restrictions: RAIL clauses legally prohibit utilizing open weights for military weapons, biometric surveillance, or criminal exploitation.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Takedown Protocol: G42 reserves the right to issue takedown notices for unauthorized forks or commercial license infringements.
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Contributing to External Open-Source Projects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17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9728" cy="10058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Employee Contributions  —  </a:t>
            </a:r>
            <a:r>
              <a:rPr sz="1000">
                <a:solidFill>
                  <a:srgbClr val="1E293B"/>
                </a:solidFill>
                <a:latin typeface="Calibri"/>
              </a:rPr>
              <a:t>G42 encourages researchers to contribute bug fixes and feature enhancements to major upstream open-source AI frameworks (e.g., PyTorch, vLLM, Hugging Face Transformers, Ray).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9728" cy="1005840"/>
          </a:xfrm>
          <a:prstGeom prst="round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36F63"/>
                </a:solidFill>
                <a:latin typeface="Calibri"/>
              </a:rPr>
              <a:t>Pre-Contribution CLA Review  —  </a:t>
            </a:r>
            <a:r>
              <a:rPr sz="1000">
                <a:solidFill>
                  <a:srgbClr val="1E293B"/>
                </a:solidFill>
                <a:latin typeface="Calibri"/>
              </a:rPr>
              <a:t>Employees signing Contributor License Agreements (CLAs) on behalf of G42 must receive Legal review to ensure no broad patent grants or IP forfeiture clauses exist.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9728" cy="10058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Maintainer Integrity  —  </a:t>
            </a:r>
            <a:r>
              <a:rPr sz="1000">
                <a:solidFill>
                  <a:srgbClr val="1E293B"/>
                </a:solidFill>
                <a:latin typeface="Calibri"/>
              </a:rPr>
              <a:t>Staff acting as maintainers on external open-source projects must ensure clean separation between G42 internal confidential roadmaps and public project issue trackers.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3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9728" cy="10058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74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Calibri"/>
              </a:rPr>
              <a:t>Attribution Standards  —  </a:t>
            </a:r>
            <a:r>
              <a:rPr sz="1000">
                <a:solidFill>
                  <a:srgbClr val="1E293B"/>
                </a:solidFill>
                <a:latin typeface="Calibri"/>
              </a:rPr>
              <a:t>Public code contributions must cite official corporate email affiliations (e.g., username@inception.g42.ai) and include standard open-source copyright headers.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Autonomous Agent IP Governance &amp; Synthetic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18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74720" cy="5486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Agent Code &amp; Asset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Calibri"/>
              </a:rPr>
              <a:t>All software code, unit tests, configuration files, and analytical drafts generated by Sage Agent belong 100% to G42 Holding LLC.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Classified as machine-assisted work product.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Employees delegating tasks to Sage Agent retain responsibility for quality and IP integrity.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Outputs are subject to standard Group IP assignments.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3474720" cy="548640"/>
          </a:xfrm>
          <a:prstGeom prst="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Training Data &amp; RAG IP Scoping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402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Calibri"/>
              </a:rPr>
              <a:t>Data ingested into Sage Agent vector stores and knowledge graphs retains its native classification.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Group policies remain accessible across the enterprise.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Operating Company confidential policies remain strictly segregated.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Cross-OpCo knowledge graph traversal requires RBAC verification.
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5544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554480"/>
            <a:ext cx="3474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Tool &amp; API Integration Rights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2402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Calibri"/>
              </a:rPr>
              <a:t>Custom Model Context Protocol (MCP) tools and API integrations developed for Sage Agent are Group IP.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Tool definitions registered in central Enterprise Tool Registry.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Exporting proprietary agent tool schemas requires CAIO sign-off.
</a:t>
            </a:r>
          </a:p>
          <a:p>
            <a:r>
              <a:rPr sz="900">
                <a:solidFill>
                  <a:srgbClr val="64748B"/>
                </a:solidFill>
                <a:latin typeface="Calibri"/>
              </a:rPr>
              <a:t>• Agent-generated patents must name the human prompt engineer as inventor.
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Synthetic Data &amp; Algorithmic IP Ownership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19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545"/>
                </a:solidFill>
                <a:latin typeface="Calibri"/>
              </a:rPr>
              <a:t>Synthetic Data Ownership &amp; Lineage (Clause 7.2)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Proprietary Asset: Synthetic datasets generated by G42 compute clusters for model pre-training or fine-tuning are exclusive G42 IP.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Lineage Tagging: Synthetic corpora must embed cryptographic lineage metadata identifying the generating model version and prompt recipe.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Model Collapse Protection: Synthetic datasets must undergo automated quality verification before re-ingestion into foundational training pipelines.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36F63"/>
                </a:solidFill>
                <a:latin typeface="Calibri"/>
              </a:rPr>
              <a:t>Derivative Works &amp; Fine-Tuned Checkpoints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LoRA &amp; Adapter Layers: Task-specific fine-tuning adapter weights created on G42 clusters are proprietary G42 derivative works.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Base Model Scoping: When fine-tuning third-party permissive models (e.g., Llama 3 under Meta license), all custom adapter layers remain 100% G42 property.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Client Commercial Derivatives: Custom model weights built under client contracts are governed by explicit commercial IP schedules approved by Legal.
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IP Infringement Defense &amp; Clean-Room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20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9728" cy="10058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Clean-Room Engineering Mandate  —  </a:t>
            </a:r>
            <a:r>
              <a:rPr sz="1000">
                <a:solidFill>
                  <a:srgbClr val="1E293B"/>
                </a:solidFill>
                <a:latin typeface="Calibri"/>
              </a:rPr>
              <a:t>When engineering competitive algorithmic architectures, engineering teams must maintain strict clean-room isolation to avoid contamination from competitor proprietary code or trade secrets.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9728" cy="1005840"/>
          </a:xfrm>
          <a:prstGeom prst="round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36F63"/>
                </a:solidFill>
                <a:latin typeface="Calibri"/>
              </a:rPr>
              <a:t>Pre-Training Copyright Clearance  —  </a:t>
            </a:r>
            <a:r>
              <a:rPr sz="1000">
                <a:solidFill>
                  <a:srgbClr val="1E293B"/>
                </a:solidFill>
                <a:latin typeface="Calibri"/>
              </a:rPr>
              <a:t>All text, audio, and visual corpora scraped or ingested for foundational model pre-training must undergo copyright risk assessment, robots.txt verification, and commercial licensing clearance.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9728" cy="10058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Customer IP Indemnification  —  </a:t>
            </a:r>
            <a:r>
              <a:rPr sz="1000">
                <a:solidFill>
                  <a:srgbClr val="1E293B"/>
                </a:solidFill>
                <a:latin typeface="Calibri"/>
              </a:rPr>
              <a:t>G42 stands behind its proprietary models (e.g., Jais, Core42 Cloud), providing qualified intellectual property infringement indemnification to enterprise clients under standard commercial master services agreements.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3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9728" cy="10058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74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11D48"/>
                </a:solidFill>
                <a:latin typeface="Calibri"/>
              </a:rPr>
              <a:t>Third-Party Cease &amp; Desist Escalation  —  </a:t>
            </a:r>
            <a:r>
              <a:rPr sz="1000">
                <a:solidFill>
                  <a:srgbClr val="1E293B"/>
                </a:solidFill>
                <a:latin typeface="Calibri"/>
              </a:rPr>
              <a:t>Any external copyright or patent infringement notice received by an employee must be forwarded to the Group General Counsel within two (2) hours; individual responses are strictly prohibited.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Continuous IP Auditing &amp; Repository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21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914400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45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1. Automated Repo Auditing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Daily automated scanning across all GitHub and GitLab repositories detects unapproved licenses and exposed proprietary model weights.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914400" cy="1005840"/>
          </a:xfrm>
          <a:prstGeom prst="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88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2. Cloud Storage DLP Monitoring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Microsoft Purview and Wiz continuously inspect S3/Blob buckets for unencrypted .bin, .safetensors, and .pt files exceeding 500MB.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914400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31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3. Pre-Commit Gateways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Developer workstations enforce pre-commit hooks that scan source code for API secrets, credentials, and Copyleft license headers.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83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983480"/>
            <a:ext cx="914400" cy="1005840"/>
          </a:xfrm>
          <a:prstGeom prst="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57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074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B2545"/>
                </a:solidFill>
                <a:latin typeface="Calibri"/>
              </a:rPr>
              <a:t>4. External Leak Detection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CSOC threat intelligence bots monitor public GitHub, Hugging Face, and dark web leak sites for unauthorized G42 code or model dumps.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Progressive Disciplinary Framework &amp; IP Violations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22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9728" cy="1005840"/>
          </a:xfrm>
          <a:prstGeom prst="roundRect">
            <a:avLst/>
          </a:prstGeom>
          <a:solidFill>
            <a:srgbClr val="136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Level 1: Minor Administrative  —  </a:t>
            </a:r>
            <a:r>
              <a:rPr sz="950">
                <a:solidFill>
                  <a:srgbClr val="1E293B"/>
                </a:solidFill>
                <a:latin typeface="Calibri"/>
              </a:rPr>
              <a:t>Missing license headers in internal code; late submission of non-critical invention disclosure.
</a:t>
            </a:r>
          </a:p>
          <a:p>
            <a:r>
              <a:rPr sz="950">
                <a:solidFill>
                  <a:srgbClr val="64748B"/>
                </a:solidFill>
                <a:latin typeface="Calibri"/>
              </a:rPr>
              <a:t>Mandatory Sanction: Written counseling; mandatory completion of IP refresher training; documented in HR 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9728" cy="10058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Level 2: Serious Operational  —  </a:t>
            </a:r>
            <a:r>
              <a:rPr sz="950">
                <a:solidFill>
                  <a:srgbClr val="1E293B"/>
                </a:solidFill>
                <a:latin typeface="Calibri"/>
              </a:rPr>
              <a:t>Introducing Weak Copyleft library (LGPL) without Legal sign-off; accidental public repo creation.
</a:t>
            </a:r>
          </a:p>
          <a:p>
            <a:r>
              <a:rPr sz="950">
                <a:solidFill>
                  <a:srgbClr val="64748B"/>
                </a:solidFill>
                <a:latin typeface="Calibri"/>
              </a:rPr>
              <a:t>Mandatory Sanction: Formal written reprimand; forfeiture of quarterly bonus; mandatory code remediation.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9728" cy="10058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Level 3: Severe Violation  —  </a:t>
            </a:r>
            <a:r>
              <a:rPr sz="950">
                <a:solidFill>
                  <a:srgbClr val="1E293B"/>
                </a:solidFill>
                <a:latin typeface="Calibri"/>
              </a:rPr>
              <a:t>Bypassing Open Source Release Gateway; downloading &gt;500M parameter model weights to personal laptop.
</a:t>
            </a:r>
          </a:p>
          <a:p>
            <a:r>
              <a:rPr sz="950">
                <a:solidFill>
                  <a:srgbClr val="64748B"/>
                </a:solidFill>
                <a:latin typeface="Calibri"/>
              </a:rPr>
              <a:t>Mandatory Sanction: Final written warning; immediate demotion; 30-day unpaid suspension; LTIP clawback 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3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9728" cy="10058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74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2545"/>
                </a:solidFill>
                <a:latin typeface="Calibri"/>
              </a:rPr>
              <a:t>Level 4: Gross Misconduct  —  </a:t>
            </a:r>
            <a:r>
              <a:rPr sz="950">
                <a:solidFill>
                  <a:srgbClr val="1E293B"/>
                </a:solidFill>
                <a:latin typeface="Calibri"/>
              </a:rPr>
              <a:t>Willful theft/exfiltration of proprietary model weights or trade secrets; selling source code to competitor.
</a:t>
            </a:r>
          </a:p>
          <a:p>
            <a:r>
              <a:rPr sz="950">
                <a:solidFill>
                  <a:srgbClr val="E11D48"/>
                </a:solidFill>
                <a:latin typeface="Calibri"/>
              </a:rPr>
              <a:t>Mandatory Sanction: Immediate summary termination for cause; complete LTIP cancellation; civil lawsuit &amp; criminal referral.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Whistleblowing &amp; IP Infringement Safe Harbor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23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545"/>
                </a:solidFill>
                <a:latin typeface="Calibri"/>
              </a:rPr>
              <a:t>Confidential Reporting Channels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Global EthicsPoint Portal: 24/7/365 independent, encrypted reporting at ethics.g42.ai.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Dedicated Compliance Hotlines: +971-2-GOV-G42 (UAE) / +1-800-ETHIC-42 (International).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Direct Legal Escalation: Direct confidential email to group.ip@g42.ai or postal mail to Group General Counsel.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Anonymous Option: Whistleblowers can report IP theft or copyright violations entirely anonymously.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36F63"/>
                </a:solidFill>
                <a:latin typeface="Calibri"/>
              </a:rPr>
              <a:t>Absolute Non-Retaliation Protection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Statutory Safe Harbor: Any employee who reports suspected IP theft, unlicensed software use, or model weight leaks in good faith is legally protected from retaliation.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Zero-Tolerance for Retaliation: Any manager attempting to demote, intimidate, or penalize a whistleblower faces immediate summary dismissal.
</a:t>
            </a:r>
          </a:p>
          <a:p>
            <a:r>
              <a:rPr sz="1000">
                <a:solidFill>
                  <a:srgbClr val="1E293B"/>
                </a:solidFill>
                <a:latin typeface="Calibri"/>
              </a:rPr>
              <a:t>• Confidentiality Mandate: Whistleblower identities are encrypted and shared only on a strict need-to-know legal basis.
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Appendix A: Global Statutory &amp; Treaty Concordance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24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2545"/>
                </a:solidFill>
                <a:latin typeface="Calibri"/>
              </a:rPr>
              <a:t>UAE Federal Decree-Law No. 38/2021 (Copyright &amp; Neighboring Rights)  |  Authority: UAE Ministry of Economy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Aligned Sections: Section 3.1, Section 7.2  —  Universal work-for-hire doctrine, moral rights waivers, and software copyright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2545"/>
                </a:solidFill>
                <a:latin typeface="Calibri"/>
              </a:rPr>
              <a:t>UAE Federal Law No. 11/2021 (Industrial Property / Patents)  |  Authority: UAE Patent Office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Aligned Sections: Section 4.1, Section 5.1  —  Patentability of computer-implemented inventions, employee inventor compensation frameworks.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2545"/>
                </a:solidFill>
                <a:latin typeface="Calibri"/>
              </a:rPr>
              <a:t>WIPO Copyright Treaty (WCT) &amp; Berne Convention  |  Authority: World Intellectual Property Organization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Aligned Sections: Section 3.1, Section 8.2  —  International reciprocal copyright protection across 180+ member jurisdictions.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7083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2545"/>
                </a:solidFill>
                <a:latin typeface="Calibri"/>
              </a:rPr>
              <a:t>US Title 17 Copyright Act &amp; Title 35 Patent Act  |  Authority: US Copyright Office / USPTO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Aligned Sections: Section 3.1, Section 4.2  —  Work-made-for-hire statutory alignment, global priority patent filings, and software patent claims.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8523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B2545"/>
                </a:solidFill>
                <a:latin typeface="Calibri"/>
              </a:rPr>
              <a:t>ISO/IEC 42001:2023 (Artificial Intelligence Management)  |  Authority: ISO / IEC
</a:t>
            </a:r>
          </a:p>
          <a:p>
            <a:r>
              <a:rPr sz="900">
                <a:solidFill>
                  <a:srgbClr val="1E293B"/>
                </a:solidFill>
                <a:latin typeface="Calibri"/>
              </a:rPr>
              <a:t>Aligned Sections: Section 5.2, Section 7.1  —  AI training data lineage, model weight cryptographic attestation, and algorithmic provenance.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36F63"/>
                </a:solidFill>
                <a:latin typeface="Calibri"/>
              </a:rPr>
              <a:t>G42 ENTERPRISE POLICY FRAMEWORK | G42-POL-IP-005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Calibri"/>
              </a:rPr>
              <a:t>Appendix B: Mandatory IP Attestation &amp; Execution Registry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Calibri"/>
              </a:rPr>
              <a:t>CLASSIFICATION: LEVEL 3 RESTRICTED  |  TAXONOMY: [GROUP-LEVEL]  |  Slide 25 of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545"/>
                </a:solidFill>
                <a:latin typeface="Calibri"/>
              </a:rPr>
              <a:t>Employee &amp; Researcher Attestation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Full Legal Employee Name: ____________________________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Operating Company / Subsidiary: ______________________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Enterprise ID / UID: _________________________________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Job Title / Role: ____________________________________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Assigned Compute Cluster: ____________________________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Digital Cryptographic Signature: ______________________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Execution Date (DD/MM/YYYY): _________________________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36F63"/>
                </a:solidFill>
                <a:latin typeface="Calibri"/>
              </a:rPr>
              <a:t>Authorizing Management Countersignature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Direct Line Manager / Lab Director: ____________________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Manager Signature &amp; Date: ____________________________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OpCo Head of Technology / AI: ________________________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Technology Lead Signature &amp; Date: ____________________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Group Chief IP Counsel Delegate: ______________________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Legal Countersignature &amp; Date: ________________________
</a:t>
            </a:r>
          </a:p>
          <a:p>
            <a:r>
              <a:rPr sz="950">
                <a:solidFill>
                  <a:srgbClr val="1E293B"/>
                </a:solidFill>
                <a:latin typeface="Calibri"/>
              </a:rPr>
              <a:t>Compliance Registry Confirmation: [VERIFIED &amp; RECORDED]
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36F63"/>
                </a:solidFill>
                <a:latin typeface="Calibri"/>
              </a:rPr>
              <a:t>G42 GROUP INTELLECTUAL PROPERTY &amp; MODEL CUSTODY
</a:t>
            </a:r>
          </a:p>
          <a:p>
            <a:r>
              <a:rPr sz="3000" b="1">
                <a:solidFill>
                  <a:srgbClr val="FFFFFF"/>
                </a:solidFill>
                <a:latin typeface="Calibri"/>
              </a:rPr>
              <a:t>Pioneering Frontier AI with Sovereign Integrity</a:t>
            </a:r>
          </a:p>
          <a:p>
            <a:r>
              <a:rPr sz="1300">
                <a:solidFill>
                  <a:srgbClr val="E2E8F0"/>
                </a:solidFill>
                <a:latin typeface="Calibri"/>
              </a:rPr>
              <a:t>
For patent disclosures, license reviews, or open-source release requests, contact:</a:t>
            </a:r>
          </a:p>
          <a:p>
            <a:r>
              <a:rPr sz="1200">
                <a:solidFill>
                  <a:srgbClr val="D97706"/>
                </a:solidFill>
                <a:latin typeface="Calibri"/>
              </a:rPr>
              <a:t>
• Group Intellectual Property Directorate: ip@g42.ai
• Open Source Review Board: opensource@g42.ai
• Global Whistleblowing &amp; Safe Harbor: ethics.g42.ai | +971-2-GOV-G42
• Group General Counsel &amp; Legal Affairs: legal@g42.ai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